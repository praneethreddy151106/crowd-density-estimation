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0E749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4206240"/>
            <a:ext cx="5852160" cy="585216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96012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22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 SCIENCE  •  COMPUTER VISION PROJECT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371600"/>
            <a:ext cx="10362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Learning-Based Crowd Density Estimation and People Counting Using Computer Vision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063240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Computer Vision Framework for Automated Crowd Safety Monitoring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06644" y="3657600"/>
            <a:ext cx="118872" cy="1188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6036412" y="3657600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Shape 7"/>
          <p:cNvSpPr/>
          <p:nvPr/>
        </p:nvSpPr>
        <p:spPr>
          <a:xfrm>
            <a:off x="6466180" y="3657600"/>
            <a:ext cx="118872" cy="11887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041648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79392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Praneeth Reddy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1130656" y="502920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40384" y="5093208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240384" y="5257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160124771028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63544" y="502920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73272" y="5093208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773272" y="5257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6432" y="502920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6160" y="5093208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306160" y="5257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29320" y="5029200"/>
            <a:ext cx="2331720" cy="530352"/>
          </a:xfrm>
          <a:prstGeom prst="roundRect">
            <a:avLst>
              <a:gd name="adj" fmla="val 17241"/>
            </a:avLst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39048" y="5093208"/>
            <a:ext cx="2112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839048" y="5257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GETTING STARTED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444752"/>
            <a:ext cx="5779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Density Estimation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1755648"/>
            <a:ext cx="5779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closely people are packed within a monitored scene, expressed as a resolution-independent index rather than a raw headcount.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01752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017520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16152" y="2980944"/>
            <a:ext cx="5779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Counting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16152" y="3291840"/>
            <a:ext cx="5779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detects and counts the number of individuals present in an uploaded image or video frame, without manual tallying.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53712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4553712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4517136"/>
            <a:ext cx="5779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Computer Vision + Deep Learning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16152" y="4828032"/>
            <a:ext cx="5779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pretrained neural network turns ordinary camera footage into continuous, objective, round-the-clock crowd intelligence — something manual observation cannot sustain.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06640" y="1463040"/>
            <a:ext cx="4282135" cy="4663440"/>
          </a:xfrm>
          <a:prstGeom prst="roundRect">
            <a:avLst>
              <a:gd name="adj" fmla="val 21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680960" y="1691640"/>
            <a:ext cx="3733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FOOTAGE TO INSIGHT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19108" y="21031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3388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2615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 Input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65412" y="2944368"/>
            <a:ext cx="164592" cy="292608"/>
          </a:xfrm>
          <a:prstGeom prst="downArrow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9319108" y="34290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73388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394106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 Detection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465412" y="4270248"/>
            <a:ext cx="164592" cy="292608"/>
          </a:xfrm>
          <a:prstGeom prst="downArrow">
            <a:avLst/>
          </a:prstGeom>
          <a:solidFill>
            <a:srgbClr val="9CA3AF"/>
          </a:solidFill>
          <a:ln/>
        </p:spPr>
      </p:sp>
      <p:sp>
        <p:nvSpPr>
          <p:cNvPr id="27" name="Shape 25"/>
          <p:cNvSpPr/>
          <p:nvPr/>
        </p:nvSpPr>
        <p:spPr>
          <a:xfrm>
            <a:off x="9319108" y="47548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273388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526694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Density Index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THIS MATTERS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410048" cy="4709160"/>
          </a:xfrm>
          <a:prstGeom prst="roundRect">
            <a:avLst>
              <a:gd name="adj" fmla="val 1942"/>
            </a:avLst>
          </a:prstGeom>
          <a:solidFill>
            <a:srgbClr val="FFF7ED"/>
          </a:solidFill>
          <a:ln w="12700">
            <a:solidFill>
              <a:srgbClr val="FDE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181965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8614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operators lose visual focus after prolonged CCTV monitoring, so bottlenecks are often missed until movement has already stalled.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Turnstiles and manual counters record entry/exit totals only — they reveal nothing about internal spatial clustering.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intervention typically begins only after panic or injury has already started.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headcount alone is misleading: 50 people in an open square is safe; 50 people in a narrow stairwell is dangerous.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8728" y="1508760"/>
            <a:ext cx="5410048" cy="4709160"/>
          </a:xfrm>
          <a:prstGeom prst="roundRect">
            <a:avLst>
              <a:gd name="adj" fmla="val 1942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178308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0732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74840" y="1819656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Motivation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423160"/>
            <a:ext cx="48614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gatherings at transit hubs, pilgrimage centres, airports, stadiums and public squares are prone to sudden density surges.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system gives security teams an early, objective warning before conditions turn dangerous.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Non-intrusive: works with existing RGB camera infrastructure — no RFID tags or mobile tracking required.</a:t>
            </a:r>
            <a:endParaRPr lang="en-US" sz="1300" dirty="0"/>
          </a:p>
          <a:p>
            <a:pPr marL="203200" indent="-2032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6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for data privacy, with adaptive CPU/GPU execution so it stays accessible on standard hardware.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PROJECT GOALS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2645588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737360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" y="1737360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9424"/>
            <a:ext cx="227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People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15184"/>
            <a:ext cx="22798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pedestrians in a scene using a pretrained YOLO26 model.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9676" y="1536192"/>
            <a:ext cx="2645588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50844" y="17373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5124" y="1737360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249424"/>
            <a:ext cx="227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People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32556" y="2615184"/>
            <a:ext cx="22798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instantaneous and cumulative unique counts via tracking.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6432" y="1536192"/>
            <a:ext cx="2645588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00" y="1737360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1880" y="1737360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79312" y="2249424"/>
            <a:ext cx="227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Crowd Density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79312" y="2615184"/>
            <a:ext cx="22798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resolution-normalized density index and surface occupancy.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43187" y="1536192"/>
            <a:ext cx="2645588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44355" y="173736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98635" y="1737360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226067" y="2249424"/>
            <a:ext cx="227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Heatmaps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26067" y="2615184"/>
            <a:ext cx="22798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2D Gaussian spatial density heatmaps over the scene.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6298" y="3410712"/>
            <a:ext cx="2645588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127466" y="3611880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081746" y="3611880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2109178" y="4123944"/>
            <a:ext cx="227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People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2109178" y="4489704"/>
            <a:ext cx="22798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persistent multi-person IDs across video frames.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73054" y="3410712"/>
            <a:ext cx="2645588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74222" y="3611880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28502" y="3611880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955934" y="4123944"/>
            <a:ext cx="227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Crowd Risk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955934" y="4489704"/>
            <a:ext cx="22798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scenes into LOW / MODERATE / HIGH / CRITICAL tiers.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19810" y="3410712"/>
            <a:ext cx="2645588" cy="1600200"/>
          </a:xfrm>
          <a:prstGeom prst="roundRect">
            <a:avLst>
              <a:gd name="adj" fmla="val 5714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20978" y="3611880"/>
            <a:ext cx="402336" cy="40233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775258" y="3611880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802690" y="4123944"/>
            <a:ext cx="22798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Images &amp; Video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802690" y="4489704"/>
            <a:ext cx="22798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it all through an interactive Streamlit web application.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PIPELINE OVERVIEW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Methodology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2331720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" y="1426464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4640" y="1426464"/>
            <a:ext cx="4663440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80944" y="1426464"/>
            <a:ext cx="4425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Used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0" y="1426464"/>
            <a:ext cx="4190695" cy="3474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44384" y="1426464"/>
            <a:ext cx="395295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Produced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773936"/>
            <a:ext cx="233172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" y="1927098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177393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Input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34640" y="1773936"/>
            <a:ext cx="4663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80944" y="177393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uploaded image or video file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773936"/>
            <a:ext cx="4190695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44384" y="177393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frame(s) in memory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162556"/>
            <a:ext cx="233172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2315718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5528" y="216255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Validation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0" y="2162556"/>
            <a:ext cx="466344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980944" y="216255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format, integrity &amp; decode the file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2162556"/>
            <a:ext cx="4190695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44384" y="216255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readable frame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2551176"/>
            <a:ext cx="233172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2704338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5528" y="255117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Person Detection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834640" y="2551176"/>
            <a:ext cx="4663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80944" y="255117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YOLO26 inference, confidence ≥ 0.35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2551176"/>
            <a:ext cx="4190695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44384" y="255117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person detections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2939796"/>
            <a:ext cx="233172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" y="3092958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95528" y="293979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Bounding Boxes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34640" y="2939796"/>
            <a:ext cx="466344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80944" y="293979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filtering removes duplicates (IoU ≥ 0.45)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2939796"/>
            <a:ext cx="4190695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44384" y="293979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boxes [x1,y1,x2,y2] + confidence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3328416"/>
            <a:ext cx="233172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" y="3481578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95528" y="332841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Counting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834640" y="3328416"/>
            <a:ext cx="4663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80944" y="332841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detections in the current frame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98080" y="3328416"/>
            <a:ext cx="4190695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44384" y="332841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person count (N)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3717036"/>
            <a:ext cx="233172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" y="3870198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95528" y="371703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Density Calculation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834640" y="3717036"/>
            <a:ext cx="466344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980944" y="371703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(N × 10,000) / (W × H)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498080" y="3717036"/>
            <a:ext cx="4190695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644384" y="371703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Resolution-normalized density index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02920" y="4105656"/>
            <a:ext cx="233172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0936" y="4258818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95528" y="410565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Occupancy Calculation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834640" y="4105656"/>
            <a:ext cx="4663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980944" y="410565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mask over the union of all boxes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498080" y="4105656"/>
            <a:ext cx="4190695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644384" y="410565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surface occupancy Ω (%)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4494276"/>
            <a:ext cx="233172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0936" y="4647438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95528" y="449427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Spatial Distribution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834640" y="4494276"/>
            <a:ext cx="466344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980944" y="449427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grid split + coefficient of variation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498080" y="4494276"/>
            <a:ext cx="4190695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644384" y="449427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Hot-zones &amp; dispersion type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" y="4882896"/>
            <a:ext cx="233172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0936" y="5036058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95528" y="488289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Tracking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834640" y="4882896"/>
            <a:ext cx="4663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2980944" y="488289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IoU + centroid matching (IoU ≥ 0.30)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498080" y="4882896"/>
            <a:ext cx="4190695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644384" y="488289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person IDs, no double-count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02920" y="5271516"/>
            <a:ext cx="233172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0936" y="5424678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795528" y="527151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Risk Classification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2834640" y="5271516"/>
            <a:ext cx="4663440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2980944" y="527151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check on N, ρ and Ω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98080" y="5271516"/>
            <a:ext cx="4190695" cy="3886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644384" y="527151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MODERATE / HIGH / CRITICAL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02920" y="5660136"/>
            <a:ext cx="233172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30936" y="5813298"/>
            <a:ext cx="82296" cy="82296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795528" y="5660136"/>
            <a:ext cx="194767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Visualization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834640" y="5660136"/>
            <a:ext cx="4663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980944" y="5660136"/>
            <a:ext cx="4425696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heatmap + HUD overlay rendering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498080" y="5660136"/>
            <a:ext cx="4190695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7644384" y="5660136"/>
            <a:ext cx="395295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media &amp; live dashboard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TECH STACK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2322" y="1792224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46602" y="179222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3230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83464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76667" y="155448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069" y="179222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20349" y="179222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868107" y="243230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Ultralytics YOLO26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849819" y="283464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person detection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50414" y="155448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39816" y="1792224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794096" y="179222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41854" y="243230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123566" y="283464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backbone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24161" y="155448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13563" y="179222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67843" y="179222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15601" y="243230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397313" y="283464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video processing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97908" y="155448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87310" y="1792224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341590" y="179222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89348" y="243230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671060" y="283464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application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6616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292322" y="380390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46602" y="380390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444398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76072" y="484632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76667" y="356616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66069" y="3803904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520349" y="380390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868107" y="444398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2849819" y="484632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handling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50414" y="356616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839816" y="380390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794096" y="380390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141854" y="444398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123566" y="484632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metric plots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24161" y="356616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13563" y="3803904"/>
            <a:ext cx="512064" cy="51206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067843" y="380390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7415601" y="444398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Pillow (PIL)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7397313" y="484632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I/O utilities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597908" y="3566160"/>
            <a:ext cx="2090867" cy="1737360"/>
          </a:xfrm>
          <a:prstGeom prst="roundRect">
            <a:avLst>
              <a:gd name="adj" fmla="val 5263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0387310" y="3803904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0341590" y="3803904"/>
            <a:ext cx="603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9689348" y="4443984"/>
            <a:ext cx="190798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SciPy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9671060" y="4846320"/>
            <a:ext cx="19445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computing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DETECTION ENGINE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Person Detection &amp; Tracking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410048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719072"/>
            <a:ext cx="420624" cy="420624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1907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55648"/>
            <a:ext cx="440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— YOLO26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50008"/>
            <a:ext cx="48614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deep CNN: locates every person in one forward pass over the frame.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strictly for COCO Class 0 (“person”) via classes=[PERSON_CLASS_ID].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threshold: default 0.35, adjustable between 0.10 – 0.95.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per-person bounding boxes [x1, y1, x2, y2] with confidence scores.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481328"/>
            <a:ext cx="5410048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4760" y="171907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89040" y="171907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101688" y="1755648"/>
            <a:ext cx="440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— IoU + Centroid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2350008"/>
            <a:ext cx="486140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bipartite matching links each detection to the closest existing track.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≥ 0.30 required to associate a detection with an existing track.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IDs (Person 1, Person 2 …) assigned on first appearance.</a:t>
            </a:r>
            <a:endParaRPr lang="en-US" sz="1200" dirty="0"/>
          </a:p>
          <a:p>
            <a:pPr marL="203200" indent="-2032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survive up to 15 missed frames before being pruned — preventing double-counting.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001768"/>
            <a:ext cx="1118585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5184648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0E7490">
              <a:alpha val="45000"/>
            </a:srgbClr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534924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7C3AED">
              <a:alpha val="4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5184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57790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794760" y="5166360"/>
            <a:ext cx="771113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Intersection-over-Union: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Area(A ∩ B) / Area(A ∪ B)  —  the overlap ratio used both to suppress duplicate detections (NMS) and to match people across consecutive frames.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CORE ANALYTICS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Density, Heatmap &amp; Risk Classification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59304" cy="13716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91440" cy="914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15727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Index ρ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75104"/>
            <a:ext cx="233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(N × 10,000) / (W × H)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14016"/>
            <a:ext cx="233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per 100×100 px window — resolution-invariant.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45104" y="1463040"/>
            <a:ext cx="2659304" cy="13716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7984" y="16459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92576" y="15727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Occupancy 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27984" y="1975104"/>
            <a:ext cx="233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 = (Occupied / W×H) ×100%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27984" y="2414016"/>
            <a:ext cx="233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Binary-mask coverage; overlaps not double counted.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87288" y="1463040"/>
            <a:ext cx="2659304" cy="13716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0168" y="1645920"/>
            <a:ext cx="91440" cy="914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4760" y="15727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Distribution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1975104"/>
            <a:ext cx="233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 grid · CV = σ / μ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70168" y="2414016"/>
            <a:ext cx="233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hot-zones; classifies Uniform vs Clustered.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029471" y="1463040"/>
            <a:ext cx="2659304" cy="1371600"/>
          </a:xfrm>
          <a:prstGeom prst="roundRect">
            <a:avLst>
              <a:gd name="adj" fmla="val 6667"/>
            </a:avLst>
          </a:prstGeom>
          <a:solidFill>
            <a:srgbClr val="FAFA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2351" y="164592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76943" y="1572768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Heatmap D(x,y)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12351" y="1975104"/>
            <a:ext cx="233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Σ exp(−dist² / 2σ²)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212351" y="2414016"/>
            <a:ext cx="233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 Gaussian, blurred &amp; color-mapped (JET).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154680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OPERATIONAL RISK CLASSIFICATION  —  thresholds defined in config.py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465576"/>
            <a:ext cx="141732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2648" y="34655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920240" y="3465576"/>
            <a:ext cx="150876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029968" y="34655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Count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3465576"/>
            <a:ext cx="178308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8728" y="34655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Index 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3465576"/>
            <a:ext cx="1600200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321808" y="34655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3465576"/>
            <a:ext cx="4876495" cy="36576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22008" y="3465576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Meaning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831336"/>
            <a:ext cx="1417320" cy="530352"/>
          </a:xfrm>
          <a:prstGeom prst="rect">
            <a:avLst/>
          </a:prstGeom>
          <a:solidFill>
            <a:srgbClr val="ECFD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" y="40416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13816" y="383133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920240" y="3831336"/>
            <a:ext cx="1508760" cy="530352"/>
          </a:xfrm>
          <a:prstGeom prst="rect">
            <a:avLst/>
          </a:prstGeom>
          <a:solidFill>
            <a:srgbClr val="ECFD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048256" y="3831336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9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429000" y="3831336"/>
            <a:ext cx="1783080" cy="530352"/>
          </a:xfrm>
          <a:prstGeom prst="rect">
            <a:avLst/>
          </a:prstGeom>
          <a:solidFill>
            <a:srgbClr val="ECFD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557016" y="3831336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0.035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212080" y="3831336"/>
            <a:ext cx="1600200" cy="530352"/>
          </a:xfrm>
          <a:prstGeom prst="rect">
            <a:avLst/>
          </a:prstGeom>
          <a:solidFill>
            <a:srgbClr val="ECFD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40096" y="3831336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8.0%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812280" y="3831336"/>
            <a:ext cx="4876495" cy="530352"/>
          </a:xfrm>
          <a:prstGeom prst="rect">
            <a:avLst/>
          </a:prstGeom>
          <a:solidFill>
            <a:srgbClr val="ECFDF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40296" y="3831336"/>
            <a:ext cx="46570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crowd; free pedestrian movement.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2920" y="4361688"/>
            <a:ext cx="1417320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" y="457200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3816" y="436168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920240" y="4361688"/>
            <a:ext cx="1508760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048256" y="4361688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– 24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429000" y="4361688"/>
            <a:ext cx="1783080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57016" y="4361688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0.085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5212080" y="4361688"/>
            <a:ext cx="1600200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40096" y="4361688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18.0%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812280" y="4361688"/>
            <a:ext cx="4876495" cy="530352"/>
          </a:xfrm>
          <a:prstGeom prst="rect">
            <a:avLst/>
          </a:prstGeom>
          <a:solidFill>
            <a:srgbClr val="FFFB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940296" y="4361688"/>
            <a:ext cx="46570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density; fluid movement maintained.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02920" y="4892040"/>
            <a:ext cx="1417320" cy="530352"/>
          </a:xfrm>
          <a:prstGeom prst="rect">
            <a:avLst/>
          </a:prstGeom>
          <a:solidFill>
            <a:srgbClr val="FFF7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0936" y="5102352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13816" y="489204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1920240" y="4892040"/>
            <a:ext cx="1508760" cy="530352"/>
          </a:xfrm>
          <a:prstGeom prst="rect">
            <a:avLst/>
          </a:prstGeom>
          <a:solidFill>
            <a:srgbClr val="FFF7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048256" y="4892040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– 49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429000" y="4892040"/>
            <a:ext cx="1783080" cy="530352"/>
          </a:xfrm>
          <a:prstGeom prst="rect">
            <a:avLst/>
          </a:prstGeom>
          <a:solidFill>
            <a:srgbClr val="FFF7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557016" y="4892040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0.160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212080" y="4892040"/>
            <a:ext cx="1600200" cy="530352"/>
          </a:xfrm>
          <a:prstGeom prst="rect">
            <a:avLst/>
          </a:prstGeom>
          <a:solidFill>
            <a:srgbClr val="FFF7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340096" y="4892040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32.0%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812280" y="4892040"/>
            <a:ext cx="4876495" cy="530352"/>
          </a:xfrm>
          <a:prstGeom prst="rect">
            <a:avLst/>
          </a:prstGeom>
          <a:solidFill>
            <a:srgbClr val="FFF7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940296" y="4892040"/>
            <a:ext cx="46570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flow; bottleneck warnings.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2920" y="5422392"/>
            <a:ext cx="1417320" cy="530352"/>
          </a:xfrm>
          <a:prstGeom prst="rect">
            <a:avLst/>
          </a:prstGeom>
          <a:solidFill>
            <a:srgbClr val="FE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936" y="56327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13816" y="542239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1920240" y="5422392"/>
            <a:ext cx="1508760" cy="530352"/>
          </a:xfrm>
          <a:prstGeom prst="rect">
            <a:avLst/>
          </a:prstGeom>
          <a:solidFill>
            <a:srgbClr val="FE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048256" y="5422392"/>
            <a:ext cx="1289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3429000" y="5422392"/>
            <a:ext cx="1783080" cy="530352"/>
          </a:xfrm>
          <a:prstGeom prst="rect">
            <a:avLst/>
          </a:prstGeom>
          <a:solidFill>
            <a:srgbClr val="FE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557016" y="5422392"/>
            <a:ext cx="1563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0.160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212080" y="5422392"/>
            <a:ext cx="1600200" cy="530352"/>
          </a:xfrm>
          <a:prstGeom prst="rect">
            <a:avLst/>
          </a:prstGeom>
          <a:solidFill>
            <a:srgbClr val="FE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5340096" y="5422392"/>
            <a:ext cx="1380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32.0%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6812280" y="5422392"/>
            <a:ext cx="4876495" cy="530352"/>
          </a:xfrm>
          <a:prstGeom prst="rect">
            <a:avLst/>
          </a:prstGeom>
          <a:solidFill>
            <a:srgbClr val="FEF2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940296" y="5422392"/>
            <a:ext cx="465703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Overcrowded; high crush hazard — intervention required.</a:t>
            </a:r>
            <a:endParaRPr lang="en-US" sz="1050" dirty="0"/>
          </a:p>
        </p:txBody>
      </p:sp>
      <p:sp>
        <p:nvSpPr>
          <p:cNvPr id="80" name="Text 78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WHAT THE SYSTEM PRODUCES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Output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2889504" cy="1906524"/>
          </a:xfrm>
          <a:prstGeom prst="roundRect">
            <a:avLst>
              <a:gd name="adj" fmla="val 47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19072" y="1902318"/>
            <a:ext cx="457200" cy="45720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73352" y="190231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434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Frame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495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input image/video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7016" y="1444752"/>
            <a:ext cx="2889504" cy="1906524"/>
          </a:xfrm>
          <a:prstGeom prst="roundRect">
            <a:avLst>
              <a:gd name="adj" fmla="val 47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92707" y="1978579"/>
            <a:ext cx="502920" cy="685800"/>
          </a:xfrm>
          <a:prstGeom prst="roundRect">
            <a:avLst>
              <a:gd name="adj" fmla="val 5455"/>
            </a:avLst>
          </a:prstGeom>
          <a:ln w="2540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8507" y="2207179"/>
            <a:ext cx="457200" cy="640080"/>
          </a:xfrm>
          <a:prstGeom prst="roundRect">
            <a:avLst>
              <a:gd name="adj" fmla="val 6000"/>
            </a:avLst>
          </a:prstGeom>
          <a:ln w="254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2867" y="2070019"/>
            <a:ext cx="438912" cy="621792"/>
          </a:xfrm>
          <a:prstGeom prst="roundRect">
            <a:avLst>
              <a:gd name="adj" fmla="val 6250"/>
            </a:avLst>
          </a:prstGeom>
          <a:ln w="254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4176" y="2784348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Detections + Boxes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694176" y="30495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boxes, confidence, IDs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515868"/>
            <a:ext cx="2889504" cy="1906524"/>
          </a:xfrm>
          <a:prstGeom prst="roundRect">
            <a:avLst>
              <a:gd name="adj" fmla="val 47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216152" y="3585088"/>
            <a:ext cx="1463040" cy="1463040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421892" y="3790828"/>
            <a:ext cx="1051560" cy="1051560"/>
          </a:xfrm>
          <a:prstGeom prst="ellipse">
            <a:avLst/>
          </a:prstGeom>
          <a:solidFill>
            <a:srgbClr val="F97316">
              <a:alpha val="3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04772" y="3973708"/>
            <a:ext cx="685800" cy="685800"/>
          </a:xfrm>
          <a:prstGeom prst="ellipse">
            <a:avLst/>
          </a:prstGeom>
          <a:solidFill>
            <a:srgbClr val="F59E0B">
              <a:alpha val="5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64792" y="4133728"/>
            <a:ext cx="365760" cy="365760"/>
          </a:xfrm>
          <a:prstGeom prst="ellipse">
            <a:avLst/>
          </a:prstGeom>
          <a:solidFill>
            <a:srgbClr val="FDE68A">
              <a:alpha val="8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85546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Gaussian Heatmap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1206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density hot-zones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57016" y="3515868"/>
            <a:ext cx="2889504" cy="1906524"/>
          </a:xfrm>
          <a:prstGeom prst="roundRect">
            <a:avLst>
              <a:gd name="adj" fmla="val 479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F2937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70248" y="3585088"/>
            <a:ext cx="1463040" cy="1463040"/>
          </a:xfrm>
          <a:prstGeom prst="ellipse">
            <a:avLst/>
          </a:prstGeom>
          <a:solidFill>
            <a:srgbClr val="EF4444">
              <a:alpha val="2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475988" y="3790828"/>
            <a:ext cx="1051560" cy="1051560"/>
          </a:xfrm>
          <a:prstGeom prst="ellipse">
            <a:avLst/>
          </a:prstGeom>
          <a:solidFill>
            <a:srgbClr val="F97316">
              <a:alpha val="3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58868" y="3973708"/>
            <a:ext cx="685800" cy="685800"/>
          </a:xfrm>
          <a:prstGeom prst="ellipse">
            <a:avLst/>
          </a:prstGeom>
          <a:solidFill>
            <a:srgbClr val="F59E0B">
              <a:alpha val="5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18888" y="4133728"/>
            <a:ext cx="365760" cy="365760"/>
          </a:xfrm>
          <a:prstGeom prst="ellipse">
            <a:avLst/>
          </a:prstGeom>
          <a:solidFill>
            <a:srgbClr val="FDE68A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44568" y="3932560"/>
            <a:ext cx="457200" cy="621792"/>
          </a:xfrm>
          <a:prstGeom prst="roundRect">
            <a:avLst>
              <a:gd name="adj" fmla="val 6000"/>
            </a:avLst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94176" y="485546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Blended Overlay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694176" y="512064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+ detections combined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49554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of the 2×2 composite panel generated by visualization.py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1463040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OUTPUT ARTIFACTS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1755648"/>
            <a:ext cx="48764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*_annotated.jpg — boxes, confidence tags, HUD badge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*_heatmap.jpg — 2D Gaussian spatial heatmap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*_combined.jpg — 2×2 presentation composite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*_analysis.json — quantitative analytics metadata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processed_video_*.mp4 — annotated video stream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crowd_metrics_plot_*.png — count &amp; density vs time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video_summary_*.json — aggregate temporal report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4251960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RISK BADGES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12280" y="4544568"/>
            <a:ext cx="499262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812280" y="4544568"/>
            <a:ext cx="4992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39558" y="4544568"/>
            <a:ext cx="874166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439558" y="4544568"/>
            <a:ext cx="874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441741" y="4544568"/>
            <a:ext cx="574243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41741" y="4544568"/>
            <a:ext cx="574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44000" y="4544568"/>
            <a:ext cx="874166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144000" y="4544568"/>
            <a:ext cx="874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812280" y="5029200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TABS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12280" y="5340096"/>
            <a:ext cx="574243" cy="329184"/>
          </a:xfrm>
          <a:prstGeom prst="roundRect">
            <a:avLst>
              <a:gd name="adj" fmla="val 22222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12280" y="5340096"/>
            <a:ext cx="574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514539" y="5340096"/>
            <a:ext cx="1324051" cy="329184"/>
          </a:xfrm>
          <a:prstGeom prst="roundRect">
            <a:avLst>
              <a:gd name="adj" fmla="val 22222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514539" y="5340096"/>
            <a:ext cx="1324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966606" y="5340096"/>
            <a:ext cx="1324051" cy="329184"/>
          </a:xfrm>
          <a:prstGeom prst="roundRect">
            <a:avLst>
              <a:gd name="adj" fmla="val 22222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966606" y="5340096"/>
            <a:ext cx="1324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Analysis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418674" y="5340096"/>
            <a:ext cx="949147" cy="329184"/>
          </a:xfrm>
          <a:prstGeom prst="roundRect">
            <a:avLst>
              <a:gd name="adj" fmla="val 22222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418674" y="5340096"/>
            <a:ext cx="949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2280" y="5724144"/>
            <a:ext cx="1324051" cy="329184"/>
          </a:xfrm>
          <a:prstGeom prst="roundRect">
            <a:avLst>
              <a:gd name="adj" fmla="val 22222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812280" y="5724144"/>
            <a:ext cx="13240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58952" y="338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WRAPPING UP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545738" cy="2514600"/>
          </a:xfrm>
          <a:prstGeom prst="roundRect">
            <a:avLst>
              <a:gd name="adj" fmla="val 3636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1728216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" y="17282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64792"/>
            <a:ext cx="2631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2286000"/>
            <a:ext cx="310682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offline CV pipeline combining detection, density metrics, heatmaps and tracking.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into an interactive Streamlit app with image, video and dashboard views.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an automated test suite across hardware, edge cases and video.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2978" y="1508760"/>
            <a:ext cx="3545738" cy="251460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E9E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2434" y="1728216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96714" y="17282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54498" y="1764792"/>
            <a:ext cx="2631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42434" y="2286000"/>
            <a:ext cx="310682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with adaptive CUDA / CPU execution and resolution-invariant metrics.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distortion: nearer people appear larger than farther ones.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occlusion in extremely dense crowds can reduce accuracy.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43037" y="1508760"/>
            <a:ext cx="3545738" cy="2514600"/>
          </a:xfrm>
          <a:prstGeom prst="roundRect">
            <a:avLst>
              <a:gd name="adj" fmla="val 3636"/>
            </a:avLst>
          </a:prstGeom>
          <a:solidFill>
            <a:srgbClr val="ECFEFF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2493" y="1728216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16773" y="17282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74557" y="1764792"/>
            <a:ext cx="26313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62493" y="2286000"/>
            <a:ext cx="310682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Ground-plane homography for top-down perspective correction.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density-regression models (e.g. CSRNet) for ultra-dense aerial views.</a:t>
            </a:r>
            <a:endParaRPr lang="en-US" sz="1050" dirty="0"/>
          </a:p>
          <a:p>
            <a:pPr marL="203200" indent="-203200">
              <a:lnSpc>
                <a:spcPct val="108000"/>
              </a:lnSpc>
              <a:spcAft>
                <a:spcPts val="900"/>
              </a:spcAft>
              <a:buSzPct val="100000"/>
              <a:buChar char="▪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via TensorRT / ONNX on devices like NVIDIA Jetson.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-2194560" y="2816352"/>
            <a:ext cx="5029200" cy="5029200"/>
          </a:xfrm>
          <a:prstGeom prst="ellipse">
            <a:avLst/>
          </a:prstGeom>
          <a:solidFill>
            <a:srgbClr val="0E7490">
              <a:alpha val="7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899855" y="3730752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720944" y="4315968"/>
            <a:ext cx="91440" cy="914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3" name="Shape 21"/>
          <p:cNvSpPr/>
          <p:nvPr/>
        </p:nvSpPr>
        <p:spPr>
          <a:xfrm>
            <a:off x="6050128" y="43159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9312" y="4315968"/>
            <a:ext cx="91440" cy="9144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535424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12064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now open for your questions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Density Estimation &amp; People Counting • Computer Vision Project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591495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wdVision Academic">
  <a:themeElements>
    <a:clrScheme name="CrowdVision Academic">
      <a:dk1>
        <a:srgbClr val="1F2937"/>
      </a:dk1>
      <a:lt1>
        <a:srgbClr val="FFFFFF"/>
      </a:lt1>
      <a:dk2>
        <a:srgbClr val="0E7490"/>
      </a:dk2>
      <a:lt2>
        <a:srgbClr val="ECFEFF"/>
      </a:lt2>
      <a:accent1>
        <a:srgbClr val="0E7490"/>
      </a:accent1>
      <a:accent2>
        <a:srgbClr val="7C3AED"/>
      </a:accent2>
      <a:accent3>
        <a:srgbClr val="10B981"/>
      </a:accent3>
      <a:accent4>
        <a:srgbClr val="F59E0B"/>
      </a:accent4>
      <a:accent5>
        <a:srgbClr val="F97316"/>
      </a:accent5>
      <a:accent6>
        <a:srgbClr val="EF4444"/>
      </a:accent6>
      <a:hlink>
        <a:srgbClr val="0E7490"/>
      </a:hlink>
      <a:folHlink>
        <a:srgbClr val="7C3AED"/>
      </a:folHlink>
    </a:clrScheme>
    <a:fontScheme name="CrowdVision Academic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2026-10-09T08:36:22Z</dcterms:created>
  <dcterms:modified xsi:type="dcterms:W3CDTF">2026-10-09T08:36:22Z</dcterms:modified>
</cp:coreProperties>
</file>